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0" r:id="rId6"/>
    <p:sldId id="275" r:id="rId7"/>
    <p:sldId id="276" r:id="rId8"/>
    <p:sldId id="277" r:id="rId9"/>
    <p:sldId id="278" r:id="rId10"/>
    <p:sldId id="279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33" autoAdjust="0"/>
  </p:normalViewPr>
  <p:slideViewPr>
    <p:cSldViewPr snapToGrid="0" snapToObjects="1">
      <p:cViewPr>
        <p:scale>
          <a:sx n="75" d="100"/>
          <a:sy n="75" d="100"/>
        </p:scale>
        <p:origin x="110" y="3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Uses of Virtual Reality</c:v>
                </c:pt>
              </c:strCache>
            </c:strRef>
          </c:tx>
          <c:spPr>
            <a:ln w="635">
              <a:solidFill>
                <a:schemeClr val="tx1">
                  <a:alpha val="50000"/>
                </a:schemeClr>
              </a:solidFill>
            </a:ln>
          </c:spPr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63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08D-40C0-8B5F-39AFF9B0DD40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635">
                <a:solidFill>
                  <a:schemeClr val="tx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08D-40C0-8B5F-39AFF9B0DD40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635">
                <a:solidFill>
                  <a:schemeClr val="tx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08D-40C0-8B5F-39AFF9B0DD40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635">
                <a:solidFill>
                  <a:schemeClr val="tx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08D-40C0-8B5F-39AFF9B0DD40}"/>
              </c:ext>
            </c:extLst>
          </c:dPt>
          <c:dPt>
            <c:idx val="4"/>
            <c:bubble3D val="0"/>
            <c:spPr>
              <a:solidFill>
                <a:schemeClr val="accent1">
                  <a:tint val="30000"/>
                </a:schemeClr>
              </a:solidFill>
              <a:ln w="635">
                <a:solidFill>
                  <a:schemeClr val="tx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08D-40C0-8B5F-39AFF9B0DD40}"/>
              </c:ext>
            </c:extLst>
          </c:dPt>
          <c:cat>
            <c:strRef>
              <c:f>Sheet1!$A$2:$A$5</c:f>
              <c:strCache>
                <c:ptCount val="4"/>
                <c:pt idx="0">
                  <c:v>Education</c:v>
                </c:pt>
                <c:pt idx="1">
                  <c:v>Travel</c:v>
                </c:pt>
                <c:pt idx="2">
                  <c:v>Medical</c:v>
                </c:pt>
                <c:pt idx="3">
                  <c:v>Recreation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20</c:v>
                </c:pt>
                <c:pt idx="2">
                  <c:v>14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ED-47D8-93E1-999E2EC5A8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230350963915"/>
          <c:y val="0.19355759751672144"/>
          <c:w val="0.55246496004608414"/>
          <c:h val="0.77949134460120351"/>
        </c:manualLayout>
      </c:layout>
      <c:ofPieChart>
        <c:ofPieType val="pie"/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63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4254-19DD-9E92-9CB7-31B8E278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6038F-1895-B5F0-408A-6C14104B6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A3A9C-E68F-9F84-4952-9A2CB238A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2671-3A3E-92B0-1C5F-5EDAD87F8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054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9C95-95EF-1B49-4D3D-E64E7D38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5508F-3E12-A72A-F8FD-25DE9BA05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C6CB8-42D3-80FE-C498-ADDC9825E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A9FB-C919-4E82-3850-908D9C3B0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262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4442-0A9E-16E9-499B-65EEAF47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D331A-7167-FB39-77C1-8F1032483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662E0-AC9D-2098-567E-8686CE5F0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5FCB-50D4-77E3-0C57-BD86F8A0F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74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AD77-3EE4-5950-4B92-DC5F95F5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7D389-1236-3B8F-E2AA-316693ACA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D6310-6874-2874-2578-3AA999035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D7C39-2996-6A9E-984E-99B613696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1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992A-AFA7-D3E5-2A3D-3F660E20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D1015-BCB2-7AC5-34E0-346D4E2E3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DFEF5-9947-3B8C-B600-603E5A209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016B-B468-890C-FE84-26D8513E8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362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10" y="2554817"/>
            <a:ext cx="10165715" cy="874183"/>
          </a:xfrm>
        </p:spPr>
        <p:txBody>
          <a:bodyPr>
            <a:normAutofit/>
          </a:bodyPr>
          <a:lstStyle/>
          <a:p>
            <a:r>
              <a:rPr lang="en-IN" dirty="0"/>
              <a:t>Sales Performance Dashboard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011931"/>
            <a:ext cx="7197726" cy="72009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Internship task 4 by</a:t>
            </a:r>
          </a:p>
          <a:p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b.sharmilaa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775" y="-213934"/>
            <a:ext cx="8554473" cy="14562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Uses of Virtual Reality</a:t>
            </a: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B969B0A3-888C-49AE-AB43-78DF29C9B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566069"/>
              </p:ext>
            </p:extLst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A021C9-4B53-45DC-DE56-BF0F415DCB14}"/>
              </a:ext>
            </a:extLst>
          </p:cNvPr>
          <p:cNvSpPr txBox="1"/>
          <p:nvPr/>
        </p:nvSpPr>
        <p:spPr>
          <a:xfrm>
            <a:off x="1398116" y="871612"/>
            <a:ext cx="8246109" cy="5183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Indicators:</a:t>
            </a:r>
            <a:endParaRPr lang="en-US" b="0" i="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$X.XX Million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$X.XX Million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XX.X%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Growth: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X.X%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3 Insights:</a:t>
            </a:r>
            <a:endParaRPr lang="en-US" b="0" i="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Western region leads performance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35% of total revenue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 shows strongest seasonal performance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- 25% higher than quarterly average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Electronics category dominates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product mix at 42% of sales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1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"An intuitive, data-driven platform for real-time business decision-making"</a:t>
            </a:r>
            <a:endParaRPr lang="en-US" b="0" i="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51DF-3A61-A9FE-CA45-98DB1165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079A-02BC-EA53-84AF-268C73D5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775" y="-213934"/>
            <a:ext cx="8554473" cy="14562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Dashboard Interface &amp; Features</a:t>
            </a:r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B2A8C5DC-70CB-90A2-0315-7399078CEE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08D687-4BCF-A106-D510-B5FE2E38224E}"/>
              </a:ext>
            </a:extLst>
          </p:cNvPr>
          <p:cNvSpPr txBox="1"/>
          <p:nvPr/>
        </p:nvSpPr>
        <p:spPr>
          <a:xfrm>
            <a:off x="1398116" y="871612"/>
            <a:ext cx="82461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Annotated Sections:</a:t>
            </a:r>
            <a:endParaRPr lang="en-IN" dirty="0"/>
          </a:p>
          <a:p>
            <a:r>
              <a:rPr lang="en-IN" b="1" dirty="0"/>
              <a:t>🚀 Real-time KPI Cards</a:t>
            </a:r>
            <a:r>
              <a:rPr lang="en-IN" dirty="0"/>
              <a:t> - Key metrics at a glance</a:t>
            </a:r>
          </a:p>
          <a:p>
            <a:r>
              <a:rPr lang="en-IN" b="1" dirty="0"/>
              <a:t>📈 Sales Trend Analysis</a:t>
            </a:r>
            <a:r>
              <a:rPr lang="en-IN" dirty="0"/>
              <a:t> - Time-series performance tracking</a:t>
            </a:r>
          </a:p>
          <a:p>
            <a:r>
              <a:rPr lang="en-IN" b="1" dirty="0"/>
              <a:t>🗺️ Regional Performance</a:t>
            </a:r>
            <a:r>
              <a:rPr lang="en-IN" dirty="0"/>
              <a:t> - Geographic and category breakdowns</a:t>
            </a:r>
          </a:p>
          <a:p>
            <a:r>
              <a:rPr lang="en-IN" b="1" dirty="0"/>
              <a:t>🎚️ Interactive Filters</a:t>
            </a:r>
            <a:r>
              <a:rPr lang="en-IN" dirty="0"/>
              <a:t> - Dynamic data slicing capabilities</a:t>
            </a:r>
          </a:p>
          <a:p>
            <a:r>
              <a:rPr lang="en-IN" b="1" dirty="0"/>
              <a:t>🧭 Navigation Menu</a:t>
            </a:r>
            <a:r>
              <a:rPr lang="en-IN" dirty="0"/>
              <a:t> - Seamless multi-page exploration</a:t>
            </a:r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CCF28ED-9DCC-C250-A2AB-2345177BA8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295"/>
          <a:stretch>
            <a:fillRect/>
          </a:stretch>
        </p:blipFill>
        <p:spPr>
          <a:xfrm>
            <a:off x="837410" y="2625938"/>
            <a:ext cx="10264838" cy="39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6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9412-F242-F4FE-99EF-722EE3EA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210C-719B-6870-86BC-7AC162EF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775" y="-213934"/>
            <a:ext cx="8554473" cy="14562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Deep Dive: Data Visualizations</a:t>
            </a:r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DF6CD15A-5C47-41CC-E250-96AE319807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8A54F6-D2A2-875A-CB64-DC6EF832DD08}"/>
              </a:ext>
            </a:extLst>
          </p:cNvPr>
          <p:cNvSpPr txBox="1"/>
          <p:nvPr/>
        </p:nvSpPr>
        <p:spPr>
          <a:xfrm>
            <a:off x="1398116" y="871612"/>
            <a:ext cx="82461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1: Sales Trend Analysis</a:t>
            </a:r>
          </a:p>
          <a:p>
            <a:endParaRPr lang="en-US" dirty="0"/>
          </a:p>
          <a:p>
            <a:r>
              <a:rPr lang="en-US" b="1" dirty="0"/>
              <a:t>Insight:</a:t>
            </a:r>
            <a:r>
              <a:rPr lang="en-US" dirty="0"/>
              <a:t> Clear seasonal patterns with consistent Q4 peaks</a:t>
            </a:r>
          </a:p>
          <a:p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 Optimize inventory planning for high-demand periods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6B06619-B707-13D5-8DBA-84C98BF41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5" t="18212" r="73774" b="59837"/>
          <a:stretch>
            <a:fillRect/>
          </a:stretch>
        </p:blipFill>
        <p:spPr>
          <a:xfrm>
            <a:off x="7873999" y="977340"/>
            <a:ext cx="2631441" cy="137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FEE35F-94C7-006F-650F-2D061A8D7F4A}"/>
              </a:ext>
            </a:extLst>
          </p:cNvPr>
          <p:cNvSpPr txBox="1"/>
          <p:nvPr/>
        </p:nvSpPr>
        <p:spPr>
          <a:xfrm>
            <a:off x="1398116" y="3211607"/>
            <a:ext cx="6096000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Visual 2: Regional Performance</a:t>
            </a:r>
            <a:endParaRPr lang="en-US" b="0" i="0" dirty="0">
              <a:solidFill>
                <a:schemeClr val="tx1">
                  <a:lumMod val="95000"/>
                </a:schemeClr>
              </a:solidFill>
              <a:effectLst/>
              <a:latin typeface="quote-cjk-patch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Insight: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 Western region outperforms others by 15%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Action:</a:t>
            </a: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quote-cjk-patch"/>
              </a:rPr>
              <a:t> Investigate successful strategies for replication</a:t>
            </a:r>
          </a:p>
        </p:txBody>
      </p:sp>
      <p:pic>
        <p:nvPicPr>
          <p:cNvPr id="10" name="Picture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E198EDB-E2F1-5C04-9C1D-29B030C9D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18" t="18115" r="43333" b="59704"/>
          <a:stretch>
            <a:fillRect/>
          </a:stretch>
        </p:blipFill>
        <p:spPr>
          <a:xfrm>
            <a:off x="7832090" y="3130686"/>
            <a:ext cx="3088640" cy="152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8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B0C4-94A2-1C5A-546F-DD495E45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35BD-8C58-796C-DD58-59A83547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35" y="40066"/>
            <a:ext cx="8554473" cy="1456267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User Guide &amp; Interactivity</a:t>
            </a:r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4112457A-35BD-753E-937F-863923E41A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3C47A1-CCAE-D7B3-72B8-BADA43390725}"/>
              </a:ext>
            </a:extLst>
          </p:cNvPr>
          <p:cNvSpPr txBox="1"/>
          <p:nvPr/>
        </p:nvSpPr>
        <p:spPr>
          <a:xfrm>
            <a:off x="1130301" y="1349132"/>
            <a:ext cx="82461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to Use This Dashboard: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Filter by Time: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 Year slicer for annual 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Date range selector for custom periods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Segment by Dimension: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Region filter for geographic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Product category for portfolio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Cross-Filtering: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Click on any chart element to filter all visuals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Example: Click "Western Region" to see product performance in that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Multi-Page Navigation: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 left menu for detailed analysis pages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"Back to Home" for quick return to overview</a:t>
            </a:r>
          </a:p>
        </p:txBody>
      </p:sp>
    </p:spTree>
    <p:extLst>
      <p:ext uri="{BB962C8B-B14F-4D97-AF65-F5344CB8AC3E}">
        <p14:creationId xmlns:p14="http://schemas.microsoft.com/office/powerpoint/2010/main" val="191272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24CC-7BB4-0554-BCC6-53164F86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B24C-3D4C-857A-8588-CD28E77B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35" y="40066"/>
            <a:ext cx="8554473" cy="1456267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Technical Architecture</a:t>
            </a:r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81A3E89C-2484-A370-450E-C5B5020502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2F42CE-EAD1-81F9-13AD-754834312468}"/>
              </a:ext>
            </a:extLst>
          </p:cNvPr>
          <p:cNvSpPr txBox="1"/>
          <p:nvPr/>
        </p:nvSpPr>
        <p:spPr>
          <a:xfrm>
            <a:off x="1398116" y="1450732"/>
            <a:ext cx="82461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Pipeline: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Source:</a:t>
            </a:r>
            <a:r>
              <a:rPr lang="en-IN" dirty="0"/>
              <a:t> Excel Data Warehouse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Processing:</a:t>
            </a:r>
            <a:r>
              <a:rPr lang="en-IN" dirty="0"/>
              <a:t> Power BI Data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Output:</a:t>
            </a:r>
            <a:r>
              <a:rPr lang="en-IN" dirty="0"/>
              <a:t> Interactive Visual Analytics</a:t>
            </a:r>
          </a:p>
          <a:p>
            <a:r>
              <a:rPr lang="en-IN" b="1" dirty="0"/>
              <a:t>Key Features:</a:t>
            </a:r>
            <a:endParaRPr lang="en-IN" dirty="0"/>
          </a:p>
          <a:p>
            <a:r>
              <a:rPr lang="en-IN" dirty="0"/>
              <a:t>✅ Star Schema Data Model</a:t>
            </a:r>
          </a:p>
          <a:p>
            <a:r>
              <a:rPr lang="en-IN" dirty="0"/>
              <a:t>✅ DAX Measures &amp; Calculations</a:t>
            </a:r>
          </a:p>
          <a:p>
            <a:r>
              <a:rPr lang="en-IN" dirty="0"/>
              <a:t>✅ Time Intelligence Functions</a:t>
            </a:r>
          </a:p>
          <a:p>
            <a:r>
              <a:rPr lang="en-IN" dirty="0"/>
              <a:t>✅ Responsive Design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Refresh Schedule:</a:t>
            </a:r>
            <a:r>
              <a:rPr lang="en-IN" dirty="0"/>
              <a:t> Daily Automatic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Tools &amp; Technologies: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Microsoft Power BI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 Query for ETL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DAX for Advanced Calculations</a:t>
            </a:r>
          </a:p>
        </p:txBody>
      </p:sp>
    </p:spTree>
    <p:extLst>
      <p:ext uri="{BB962C8B-B14F-4D97-AF65-F5344CB8AC3E}">
        <p14:creationId xmlns:p14="http://schemas.microsoft.com/office/powerpoint/2010/main" val="402023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2E34-BC1B-EDA2-6912-33128AF7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C202-6D58-82DB-AA2B-5C53E001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35" y="40066"/>
            <a:ext cx="8554473" cy="1456267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Value Delivery &amp; Roadmap</a:t>
            </a:r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349E5043-B173-FB07-3379-597E3B1A9B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71360" y="345440"/>
          <a:ext cx="4610100" cy="354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44CDEAB-21B7-8B89-9119-7607C7372C60}"/>
              </a:ext>
            </a:extLst>
          </p:cNvPr>
          <p:cNvSpPr txBox="1"/>
          <p:nvPr/>
        </p:nvSpPr>
        <p:spPr>
          <a:xfrm>
            <a:off x="1398116" y="1450732"/>
            <a:ext cx="82461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Immediate Benefits: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Faster Decision-Making:</a:t>
            </a:r>
            <a:r>
              <a:rPr lang="en-US" dirty="0"/>
              <a:t> Reduced analysis time from hours to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Democratization:</a:t>
            </a:r>
            <a:r>
              <a:rPr lang="en-US" dirty="0"/>
              <a:t> Self-service analytics for business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Visibility:</a:t>
            </a:r>
            <a:r>
              <a:rPr lang="en-US" dirty="0"/>
              <a:t> Real-time tracking of key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Future Enhancements: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Predictive Analytics</a:t>
            </a:r>
            <a:r>
              <a:rPr lang="en-US" dirty="0"/>
              <a:t> - Sales forecasting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Customer Segmentation</a:t>
            </a:r>
            <a:r>
              <a:rPr lang="en-US" dirty="0"/>
              <a:t> - Advanced cohort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Mobile Optimization</a:t>
            </a:r>
            <a:r>
              <a:rPr lang="en-US" dirty="0"/>
              <a:t> - Enhanced mobile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Alerts</a:t>
            </a:r>
            <a:r>
              <a:rPr lang="en-US" dirty="0"/>
              <a:t> - Threshold-based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08328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4124959"/>
            <a:ext cx="7197726" cy="87037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19</TotalTime>
  <Words>412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 Condensed</vt:lpstr>
      <vt:lpstr>Calibri</vt:lpstr>
      <vt:lpstr>Calibri Light</vt:lpstr>
      <vt:lpstr>quote-cjk-patch</vt:lpstr>
      <vt:lpstr>Times New Roman</vt:lpstr>
      <vt:lpstr>Celestial</vt:lpstr>
      <vt:lpstr>Sales Performance Dashboard</vt:lpstr>
      <vt:lpstr>Uses of Virtual Reality</vt:lpstr>
      <vt:lpstr>Dashboard Interface &amp; Features</vt:lpstr>
      <vt:lpstr>Deep Dive: Data Visualizations</vt:lpstr>
      <vt:lpstr>User Guide &amp; Interactivity</vt:lpstr>
      <vt:lpstr>Technical Architecture</vt:lpstr>
      <vt:lpstr>Value Delivery &amp; Roadmap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sharmilaa .</dc:creator>
  <cp:lastModifiedBy>sharmilaa .</cp:lastModifiedBy>
  <cp:revision>1</cp:revision>
  <dcterms:created xsi:type="dcterms:W3CDTF">2025-11-19T17:09:53Z</dcterms:created>
  <dcterms:modified xsi:type="dcterms:W3CDTF">2025-11-19T17:29:18Z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